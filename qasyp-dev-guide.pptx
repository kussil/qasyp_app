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889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 Bold"/>
              </a:rPr>
              <a:t>Qasyp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CADCFC"/>
                </a:solidFill>
                <a:latin typeface="Calibri"/>
              </a:rPr>
              <a:t>Developer Onboarding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A4D8"/>
                </a:solidFill>
                <a:latin typeface="Calibri"/>
              </a:rPr>
              <a:t>Claude Code  ·  Repository Structure  ·  Skills  ·  Agents  ·  Git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A4D8"/>
                </a:solidFill>
                <a:latin typeface="Calibri"/>
              </a:rPr>
              <a:t>For developers new to the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457200"/>
            <a:ext cx="2011680" cy="3474720"/>
          </a:xfrm>
          <a:prstGeom prst="rect">
            <a:avLst/>
          </a:prstGeom>
          <a:solidFill>
            <a:srgbClr val="0D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29800" y="5669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051560"/>
            <a:ext cx="1737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A4D8"/>
                </a:solidFill>
                <a:latin typeface="Calibri"/>
              </a:rPr>
              <a:t>Survey Engine</a:t>
            </a:r>
          </a:p>
          <a:p>
            <a:pPr algn="l"/>
            <a:r>
              <a:rPr sz="1200" b="0">
                <a:solidFill>
                  <a:srgbClr val="8BA4D8"/>
                </a:solidFill>
                <a:latin typeface="Calibri"/>
              </a:rPr>
              <a:t>RAG Matching</a:t>
            </a:r>
          </a:p>
          <a:p>
            <a:pPr algn="l"/>
            <a:r>
              <a:rPr sz="1200" b="0">
                <a:solidFill>
                  <a:srgbClr val="8BA4D8"/>
                </a:solidFill>
                <a:latin typeface="Calibri"/>
              </a:rPr>
              <a:t>Agent Outreach</a:t>
            </a:r>
          </a:p>
          <a:p>
            <a:pPr algn="l"/>
            <a:r>
              <a:rPr sz="1200" b="0">
                <a:solidFill>
                  <a:srgbClr val="8BA4D8"/>
                </a:solidFill>
                <a:latin typeface="Calibri"/>
              </a:rPr>
              <a:t>B2B · Kazakhstan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Bold"/>
              </a:rPr>
              <a:t>What's in this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Four things to know before you write your first line of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7453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Qasyp App — Developer 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63040"/>
            <a:ext cx="26517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463040"/>
            <a:ext cx="64008" cy="4206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1664208"/>
            <a:ext cx="64008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66420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 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48716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 Bold"/>
              </a:rPr>
              <a:t>Repo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1089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Where every file lives</a:t>
            </a:r>
          </a:p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and why each folder exists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1463040"/>
            <a:ext cx="26517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82112" y="1463040"/>
            <a:ext cx="64008" cy="4206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6704" y="1664208"/>
            <a:ext cx="64008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6704" y="166420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 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248716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 Bold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31089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Reusable instructions that make</a:t>
            </a:r>
          </a:p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Claude follow project standards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16752" y="1463040"/>
            <a:ext cx="26517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16752" y="1463040"/>
            <a:ext cx="64008" cy="4206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664208"/>
            <a:ext cx="64008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166420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 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248716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 Bold"/>
              </a:rPr>
              <a:t>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31089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Automated assistants that handle</a:t>
            </a:r>
          </a:p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recurring tasks for you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51392" y="1463040"/>
            <a:ext cx="26517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51392" y="1463040"/>
            <a:ext cx="64008" cy="4206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1664208"/>
            <a:ext cx="64008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15984" y="166420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 Bol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248716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 Bold"/>
              </a:rPr>
              <a:t>Git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31089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How two developers share the same</a:t>
            </a:r>
          </a:p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codebase without conflict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Bold"/>
              </a:rPr>
              <a:t>Repository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What lives where in /Qasyp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7453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Qasyp App — Developer 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120640" cy="4983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4983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F0C0"/>
                </a:solidFill>
                <a:latin typeface="Courier New"/>
              </a:rPr>
              <a:t>  Qasyp App/</a:t>
            </a:r>
          </a:p>
          <a:p>
            <a:pPr algn="l"/>
            <a:r>
              <a:rPr sz="1200" b="0">
                <a:solidFill>
                  <a:srgbClr val="A0F0C0"/>
                </a:solidFill>
                <a:latin typeface="Courier New"/>
              </a:rPr>
              <a:t>  ├── .claude/</a:t>
            </a:r>
          </a:p>
          <a:p>
            <a:pPr algn="l"/>
            <a:r>
              <a:rPr sz="1200" b="0">
                <a:solidFill>
                  <a:srgbClr val="A0F0C0"/>
                </a:solidFill>
                <a:latin typeface="Courier New"/>
              </a:rPr>
              <a:t>  │   ├── CLAUDE.md</a:t>
            </a:r>
          </a:p>
          <a:p>
            <a:pPr algn="l"/>
            <a:r>
              <a:rPr sz="1200" b="0">
                <a:solidFill>
                  <a:srgbClr val="A0F0C0"/>
                </a:solidFill>
                <a:latin typeface="Courier New"/>
              </a:rPr>
              <a:t>  │   ├── skills/</a:t>
            </a:r>
          </a:p>
          <a:p>
            <a:pPr algn="l"/>
            <a:r>
              <a:rPr sz="1200" b="0">
                <a:solidFill>
                  <a:srgbClr val="A0F0C0"/>
                </a:solidFill>
                <a:latin typeface="Courier New"/>
              </a:rPr>
              <a:t>  │   ├── agents/</a:t>
            </a:r>
          </a:p>
          <a:p>
            <a:pPr algn="l"/>
            <a:r>
              <a:rPr sz="1200" b="0">
                <a:solidFill>
                  <a:srgbClr val="A0F0C0"/>
                </a:solidFill>
                <a:latin typeface="Courier New"/>
              </a:rPr>
              <a:t>  │   ├── context/</a:t>
            </a:r>
          </a:p>
          <a:p>
            <a:pPr algn="l"/>
            <a:r>
              <a:rPr sz="1200" b="0">
                <a:solidFill>
                  <a:srgbClr val="A0F0C0"/>
                </a:solidFill>
                <a:latin typeface="Courier New"/>
              </a:rPr>
              <a:t>  │   └── templates/</a:t>
            </a:r>
          </a:p>
          <a:p>
            <a:pPr algn="l"/>
            <a:r>
              <a:rPr sz="1200" b="0">
                <a:solidFill>
                  <a:srgbClr val="A0F0C0"/>
                </a:solidFill>
                <a:latin typeface="Courier New"/>
              </a:rPr>
              <a:t>  ├── docs/</a:t>
            </a:r>
          </a:p>
          <a:p>
            <a:pPr algn="l"/>
            <a:r>
              <a:rPr sz="1200" b="0">
                <a:solidFill>
                  <a:srgbClr val="A0F0C0"/>
                </a:solidFill>
                <a:latin typeface="Courier New"/>
              </a:rPr>
              <a:t>  │   ├── ADR-001-...</a:t>
            </a:r>
          </a:p>
          <a:p>
            <a:pPr algn="l"/>
            <a:r>
              <a:rPr sz="1200" b="0">
                <a:solidFill>
                  <a:srgbClr val="A0F0C0"/>
                </a:solidFill>
                <a:latin typeface="Courier New"/>
              </a:rPr>
              <a:t>  │   ├── ADR-002-...</a:t>
            </a:r>
          </a:p>
          <a:p>
            <a:pPr algn="l"/>
            <a:r>
              <a:rPr sz="1200" b="0">
                <a:solidFill>
                  <a:srgbClr val="A0F0C0"/>
                </a:solidFill>
                <a:latin typeface="Courier New"/>
              </a:rPr>
              <a:t>  │   └── ADR-003-...</a:t>
            </a:r>
          </a:p>
          <a:p>
            <a:pPr algn="l"/>
            <a:r>
              <a:rPr sz="1200" b="0">
                <a:solidFill>
                  <a:srgbClr val="A0F0C0"/>
                </a:solidFill>
                <a:latin typeface="Courier New"/>
              </a:rPr>
              <a:t>  ├── sprints/</a:t>
            </a:r>
          </a:p>
          <a:p>
            <a:pPr algn="l"/>
            <a:r>
              <a:rPr sz="1200" b="0">
                <a:solidFill>
                  <a:srgbClr val="A0F0C0"/>
                </a:solidFill>
                <a:latin typeface="Courier New"/>
              </a:rPr>
              <a:t>  ├── research/</a:t>
            </a:r>
          </a:p>
          <a:p>
            <a:pPr algn="l"/>
            <a:r>
              <a:rPr sz="1200" b="0">
                <a:solidFill>
                  <a:srgbClr val="A0F0C0"/>
                </a:solidFill>
                <a:latin typeface="Courier New"/>
              </a:rPr>
              <a:t>  ├── agent-logs/</a:t>
            </a:r>
          </a:p>
          <a:p>
            <a:pPr algn="l"/>
            <a:r>
              <a:rPr sz="1200" b="0">
                <a:solidFill>
                  <a:srgbClr val="A0F0C0"/>
                </a:solidFill>
                <a:latin typeface="Courier New"/>
              </a:rPr>
              <a:t>  └── README.md</a:t>
            </a:r>
          </a:p>
        </p:txBody>
      </p:sp>
      <p:sp>
        <p:nvSpPr>
          <p:cNvPr id="9" name="Oval 8"/>
          <p:cNvSpPr/>
          <p:nvPr/>
        </p:nvSpPr>
        <p:spPr>
          <a:xfrm>
            <a:off x="5751576" y="1490472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4630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 Bold"/>
              </a:rPr>
              <a:t>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Master brief — read every session</a:t>
            </a:r>
          </a:p>
        </p:txBody>
      </p:sp>
      <p:sp>
        <p:nvSpPr>
          <p:cNvPr id="12" name="Oval 11"/>
          <p:cNvSpPr/>
          <p:nvPr/>
        </p:nvSpPr>
        <p:spPr>
          <a:xfrm>
            <a:off x="5751576" y="2020824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9933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 Bold"/>
              </a:rPr>
              <a:t>skills/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99339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11 reusable Claude instruction sets</a:t>
            </a:r>
          </a:p>
        </p:txBody>
      </p:sp>
      <p:sp>
        <p:nvSpPr>
          <p:cNvPr id="15" name="Oval 14"/>
          <p:cNvSpPr/>
          <p:nvPr/>
        </p:nvSpPr>
        <p:spPr>
          <a:xfrm>
            <a:off x="5751576" y="2551176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52374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 Bold"/>
              </a:rPr>
              <a:t>agents/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52374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2 automated task runners</a:t>
            </a:r>
          </a:p>
        </p:txBody>
      </p:sp>
      <p:sp>
        <p:nvSpPr>
          <p:cNvPr id="18" name="Oval 17"/>
          <p:cNvSpPr/>
          <p:nvPr/>
        </p:nvSpPr>
        <p:spPr>
          <a:xfrm>
            <a:off x="5751576" y="3081528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05409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 Bold"/>
              </a:rPr>
              <a:t>context/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054096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Shared data model reference</a:t>
            </a:r>
          </a:p>
        </p:txBody>
      </p:sp>
      <p:sp>
        <p:nvSpPr>
          <p:cNvPr id="21" name="Oval 20"/>
          <p:cNvSpPr/>
          <p:nvPr/>
        </p:nvSpPr>
        <p:spPr>
          <a:xfrm>
            <a:off x="5751576" y="3611880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35844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 Bold"/>
              </a:rPr>
              <a:t>templates/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58444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User story &amp; ADR templates</a:t>
            </a:r>
          </a:p>
        </p:txBody>
      </p:sp>
      <p:sp>
        <p:nvSpPr>
          <p:cNvPr id="24" name="Oval 23"/>
          <p:cNvSpPr/>
          <p:nvPr/>
        </p:nvSpPr>
        <p:spPr>
          <a:xfrm>
            <a:off x="5751576" y="4142231"/>
            <a:ext cx="164592" cy="16459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41148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 Bold"/>
              </a:rPr>
              <a:t>docs/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1148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Architecture Decision Records</a:t>
            </a:r>
          </a:p>
        </p:txBody>
      </p:sp>
      <p:sp>
        <p:nvSpPr>
          <p:cNvPr id="27" name="Oval 26"/>
          <p:cNvSpPr/>
          <p:nvPr/>
        </p:nvSpPr>
        <p:spPr>
          <a:xfrm>
            <a:off x="5751576" y="4672583"/>
            <a:ext cx="164592" cy="16459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46451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 Bold"/>
              </a:rPr>
              <a:t>sprints/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64515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Sprint briefs &amp; retrospectives</a:t>
            </a:r>
          </a:p>
        </p:txBody>
      </p:sp>
      <p:sp>
        <p:nvSpPr>
          <p:cNvPr id="30" name="Oval 29"/>
          <p:cNvSpPr/>
          <p:nvPr/>
        </p:nvSpPr>
        <p:spPr>
          <a:xfrm>
            <a:off x="5751576" y="5202936"/>
            <a:ext cx="164592" cy="16459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517550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 Bold"/>
              </a:rPr>
              <a:t>agent-logs/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517550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AI outreach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Bold"/>
              </a:rPr>
              <a:t>The .claude Folder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Everything Claude needs to know about your project — in one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7453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Qasyp App — Developer 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73152" cy="8961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371600"/>
            <a:ext cx="11448288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 Bold"/>
              </a:rPr>
              <a:t>CLAUDE.md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444752"/>
            <a:ext cx="9006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The master project brief. Claude reads this at the start of every session.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847088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Contains: tech stack, epics, quality targets, conventions, and glossary.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22576"/>
            <a:ext cx="73152" cy="8961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3192" y="2322576"/>
            <a:ext cx="11448288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14016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 Bold"/>
              </a:rPr>
              <a:t>skills/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395728"/>
            <a:ext cx="9006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Reusable instruction sets. Each subfolder is one skill with a SKILL.md file.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798064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Examples: api-spec, rag-pipeline, test-writer, github-pr.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73552"/>
            <a:ext cx="73152" cy="896112"/>
          </a:xfrm>
          <a:prstGeom prst="rect">
            <a:avLst/>
          </a:prstGeom>
          <a:solidFill>
            <a:srgbClr val="02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3192" y="3273552"/>
            <a:ext cx="11448288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6499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606E"/>
                </a:solidFill>
                <a:latin typeface="Calibri Bold"/>
              </a:rPr>
              <a:t>agents/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346704"/>
            <a:ext cx="9006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Autonomous task runners. Each agent has a fixed goal, inputs, and output location.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749039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Examples: sprint-prep (writes sprint briefs), outreach-draft (writes agent messages).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224528"/>
            <a:ext cx="73152" cy="896112"/>
          </a:xfrm>
          <a:prstGeom prst="rect">
            <a:avLst/>
          </a:prstGeom>
          <a:solidFill>
            <a:srgbClr val="3B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3192" y="4224528"/>
            <a:ext cx="11448288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315968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5BA5"/>
                </a:solidFill>
                <a:latin typeface="Calibri Bold"/>
              </a:rPr>
              <a:t>context/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297680"/>
            <a:ext cx="9006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Shared reference documents. Claude pulls these when answering domain questions.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700016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Currently: profile-schema.md — the canonical business profile data model.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175504"/>
            <a:ext cx="73152" cy="896112"/>
          </a:xfrm>
          <a:prstGeom prst="rect">
            <a:avLst/>
          </a:prstGeom>
          <a:solidFill>
            <a:srgbClr val="55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3192" y="5175504"/>
            <a:ext cx="11448288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66944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5439B"/>
                </a:solidFill>
                <a:latin typeface="Calibri Bold"/>
              </a:rPr>
              <a:t>templates/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248656"/>
            <a:ext cx="9006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Standard output formats to keep the team consistent.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5650992"/>
            <a:ext cx="9006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user-story.md for Scrum stories with DoD.  adr.md for architecture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Bold"/>
              </a:rPr>
              <a:t>Skills — What They Are &amp; How to Use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Skills encode your project standards so Claude never needs to be told twice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7453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Qasyp App — Developer 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200400" cy="1737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55648"/>
            <a:ext cx="566928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 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 Bold"/>
              </a:rPr>
              <a:t>You ask Claude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 Bold"/>
              </a:rPr>
              <a:t>to do something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148840"/>
            <a:ext cx="713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8090"/>
                </a:solidFill>
                <a:latin typeface="Calibri Bold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600200"/>
            <a:ext cx="3200400" cy="1737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755648"/>
            <a:ext cx="566928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75564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28090"/>
                </a:solidFill>
                <a:latin typeface="Calibri 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50592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 Bold"/>
              </a:rPr>
              <a:t>Claude reads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 Bold"/>
              </a:rPr>
              <a:t>the skill's SKILL.md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148840"/>
            <a:ext cx="713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8090"/>
                </a:solidFill>
                <a:latin typeface="Calibri Bold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600200"/>
            <a:ext cx="3200400" cy="1737360"/>
          </a:xfrm>
          <a:prstGeom prst="rect">
            <a:avLst/>
          </a:prstGeom>
          <a:solidFill>
            <a:srgbClr val="02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1755648"/>
            <a:ext cx="566928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175564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2606E"/>
                </a:solidFill>
                <a:latin typeface="Calibri 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450592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 Bold"/>
              </a:rPr>
              <a:t>Output follows your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 Bold"/>
              </a:rPr>
              <a:t>project conventions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1124712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630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 Bold"/>
              </a:rPr>
              <a:t>How to invoke: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9867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F0C0"/>
                </a:solidFill>
                <a:latin typeface="Courier New"/>
              </a:rPr>
              <a:t>"Use the api-spec skill to generate a POST /survey/responses endpoint."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6344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✓  Name the skill by its folder (api-spec, rag-pipeline …)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✓  Describe your goal — Claude applies the skill automatically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✓  Both developers use the same shared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6634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✓  Skill files live in  .claude/skills/{name}/SKILL.md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✓  Edit SKILL.md to update standards for the whole team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✓  You can chain multiple skills in one request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Bold"/>
              </a:rPr>
              <a:t>Skills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11 skills built for Qasyp App — invoke by name in Claude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7453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Qasyp App — Developer 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64008" cy="13533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371600"/>
            <a:ext cx="2770632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 Bold"/>
              </a:rPr>
              <a:t>api-spec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01952"/>
            <a:ext cx="2560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FastAPI endpoints, Pydantic models, Alembic stubs. Enforces PEP 8 + Epic IDs.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64008" cy="13533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371600"/>
            <a:ext cx="2770632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46304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 Bold"/>
              </a:rPr>
              <a:t>rag-pipeline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901952"/>
            <a:ext cx="2560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Qdrant/pgvector patterns, embedding logic, hard filters, model version tagging.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64008" cy="1353312"/>
          </a:xfrm>
          <a:prstGeom prst="rect">
            <a:avLst/>
          </a:prstGeom>
          <a:solidFill>
            <a:srgbClr val="02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371600"/>
            <a:ext cx="2770632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6304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606E"/>
                </a:solidFill>
                <a:latin typeface="Calibri Bold"/>
              </a:rPr>
              <a:t>survey-flow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01952"/>
            <a:ext cx="2560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Adaptive Q&amp;A flow design. Validates fields against the profile schema.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371600"/>
            <a:ext cx="64008" cy="1353312"/>
          </a:xfrm>
          <a:prstGeom prst="rect">
            <a:avLst/>
          </a:prstGeom>
          <a:solidFill>
            <a:srgbClr val="3B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62288" y="1371600"/>
            <a:ext cx="2770632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46304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5BA5"/>
                </a:solidFill>
                <a:latin typeface="Calibri Bold"/>
              </a:rPr>
              <a:t>test-writer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901952"/>
            <a:ext cx="2560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pytest + FastAPI patterns, async fixtures, mocking, &gt;70% coverage targets.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16352"/>
            <a:ext cx="64008" cy="1353312"/>
          </a:xfrm>
          <a:prstGeom prst="rect">
            <a:avLst/>
          </a:prstGeom>
          <a:solidFill>
            <a:srgbClr val="55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2816352"/>
            <a:ext cx="2770632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90779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439B"/>
                </a:solidFill>
                <a:latin typeface="Calibri Bold"/>
              </a:rPr>
              <a:t>github-pr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346704"/>
            <a:ext cx="2560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Branch naming, PR descriptions, pre-merge checklist, two-dev workflow.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2816352"/>
            <a:ext cx="64008" cy="1353312"/>
          </a:xfrm>
          <a:prstGeom prst="rect">
            <a:avLst/>
          </a:prstGeom>
          <a:solidFill>
            <a:srgbClr val="7B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10128" y="2816352"/>
            <a:ext cx="2770632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290779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5A"/>
                </a:solidFill>
                <a:latin typeface="Calibri Bold"/>
              </a:rPr>
              <a:t>code-review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346704"/>
            <a:ext cx="2560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Security, architecture, LLM &amp; i18n checks before every merge.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816352"/>
            <a:ext cx="64008" cy="135331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816352"/>
            <a:ext cx="2770632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90779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3A"/>
                </a:solidFill>
                <a:latin typeface="Calibri Bold"/>
              </a:rPr>
              <a:t>conventional-commit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346704"/>
            <a:ext cx="2560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Draft and validate commit messages with correct type + Epic ID scope.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2816352"/>
            <a:ext cx="64008" cy="1353312"/>
          </a:xfrm>
          <a:prstGeom prst="rect">
            <a:avLst/>
          </a:prstGeom>
          <a:solidFill>
            <a:srgbClr val="5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62288" y="2816352"/>
            <a:ext cx="2770632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290779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3A1A"/>
                </a:solidFill>
                <a:latin typeface="Calibri Bold"/>
              </a:rPr>
              <a:t>docker-compose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346704"/>
            <a:ext cx="2560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Service topology config, env vars, common docker compose commands.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261104"/>
            <a:ext cx="64008" cy="1353312"/>
          </a:xfrm>
          <a:prstGeom prst="rect">
            <a:avLst/>
          </a:prstGeom>
          <a:solidFill>
            <a:srgbClr val="3A1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4048" y="4261104"/>
            <a:ext cx="2770632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35254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1A5A"/>
                </a:solidFill>
                <a:latin typeface="Calibri Bold"/>
              </a:rPr>
              <a:t>alembic-migration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791456"/>
            <a:ext cx="2560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Safe migration patterns, non-nullable rules, staging/prod runbook.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46120" y="4261104"/>
            <a:ext cx="64008" cy="1353312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10128" y="4261104"/>
            <a:ext cx="2770632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29000" y="435254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A"/>
                </a:solidFill>
                <a:latin typeface="Calibri Bold"/>
              </a:rPr>
              <a:t>worktree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4791456"/>
            <a:ext cx="2560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Manage git worktrees for parallel or isolated experimental work.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4261104"/>
            <a:ext cx="64008" cy="135331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4261104"/>
            <a:ext cx="2770632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435254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2828"/>
                </a:solidFill>
                <a:latin typeface="Calibri Bold"/>
              </a:rPr>
              <a:t>anthropic-docs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4791456"/>
            <a:ext cx="2560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Answers Claude Code questions using official Anthropic documentation.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Bold"/>
              </a:rPr>
              <a:t>Agents — Automated Task Runners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Agents run a defined task end-to-end and write output to a fixed 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7453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Qasyp App — Developer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 Bold"/>
              </a:rPr>
              <a:t>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38988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8090"/>
                </a:solidFill>
                <a:latin typeface="Calibri Bold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4748B"/>
                </a:solidFill>
                <a:latin typeface="Calibri Bold"/>
              </a:rPr>
              <a:t>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029200" cy="420624"/>
          </a:xfrm>
          <a:prstGeom prst="rect">
            <a:avLst/>
          </a:prstGeom>
          <a:solidFill>
            <a:srgbClr val="E8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7510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Calibri"/>
              </a:rPr>
              <a:t>You stay in 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920240"/>
            <a:ext cx="5029200" cy="420624"/>
          </a:xfrm>
          <a:prstGeom prst="rect">
            <a:avLst/>
          </a:prstGeom>
          <a:solidFill>
            <a:srgbClr val="E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197510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15568"/>
                </a:solidFill>
                <a:latin typeface="Calibri"/>
              </a:rPr>
              <a:t>Runs autonomously to completion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14016"/>
            <a:ext cx="5029200" cy="420624"/>
          </a:xfrm>
          <a:prstGeom prst="rect">
            <a:avLst/>
          </a:prstGeom>
          <a:solidFill>
            <a:srgbClr val="E8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688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Calibri"/>
              </a:rPr>
              <a:t>Applied on any request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414016"/>
            <a:ext cx="5029200" cy="420624"/>
          </a:xfrm>
          <a:prstGeom prst="rect">
            <a:avLst/>
          </a:prstGeom>
          <a:solidFill>
            <a:srgbClr val="E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24688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15568"/>
                </a:solidFill>
                <a:latin typeface="Calibri"/>
              </a:rPr>
              <a:t>Has a fixed goal and output format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07792"/>
            <a:ext cx="5029200" cy="420624"/>
          </a:xfrm>
          <a:prstGeom prst="rect">
            <a:avLst/>
          </a:prstGeom>
          <a:solidFill>
            <a:srgbClr val="E8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9626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Calibri"/>
              </a:rPr>
              <a:t>Guides Claude's style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907792"/>
            <a:ext cx="5029200" cy="420624"/>
          </a:xfrm>
          <a:prstGeom prst="rect">
            <a:avLst/>
          </a:prstGeom>
          <a:solidFill>
            <a:srgbClr val="E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9626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15568"/>
                </a:solidFill>
                <a:latin typeface="Calibri"/>
              </a:rPr>
              <a:t>Reads specific input files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01568"/>
            <a:ext cx="5029200" cy="420624"/>
          </a:xfrm>
          <a:prstGeom prst="rect">
            <a:avLst/>
          </a:prstGeom>
          <a:solidFill>
            <a:srgbClr val="E8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4564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Calibri"/>
              </a:rPr>
              <a:t>No fixed output format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3401568"/>
            <a:ext cx="5029200" cy="420624"/>
          </a:xfrm>
          <a:prstGeom prst="rect">
            <a:avLst/>
          </a:prstGeom>
          <a:solidFill>
            <a:srgbClr val="E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4564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15568"/>
                </a:solidFill>
                <a:latin typeface="Calibri"/>
              </a:rPr>
              <a:t>Writes output to a defined location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69080"/>
            <a:ext cx="5577840" cy="2359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160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 Bold"/>
              </a:rPr>
              <a:t>sprint-prep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70916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 Bold"/>
              </a:rPr>
              <a:t>Inputs: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983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sprints/ folder · CLAUDE.md · docs/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25780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 Bold"/>
              </a:rPr>
              <a:t>Output: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532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sprints/sprint-{N}-brief.md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80644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 Bold"/>
              </a:rPr>
              <a:t>Say: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080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"Run the sprint-prep agent for sprint 1"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069080"/>
            <a:ext cx="5577840" cy="2359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160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 Bold"/>
              </a:rPr>
              <a:t>outreach-draft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70916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 Bold"/>
              </a:rPr>
              <a:t>Inputs: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983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Sender profile · recipient profile · language · goal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25780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 Bold"/>
              </a:rPr>
              <a:t>Output: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532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Draft message + JSON audit log entry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80644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 Bold"/>
              </a:rPr>
              <a:t>Say: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6080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"Draft outreach from ТОО Alpha to ТОО Beta in Russian"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Bold"/>
              </a:rPr>
              <a:t>Daily Git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How two developers collaborate on the same codebase without conflicts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7453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Qasyp App — Developer 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228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188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 Bold"/>
              </a:rPr>
              <a:t>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Protected — production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86000"/>
            <a:ext cx="11521440" cy="228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011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Calibri Bold"/>
              </a:rPr>
              <a:t>develop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011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Integration branch — all PRs target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108960"/>
            <a:ext cx="11521440" cy="228600"/>
          </a:xfrm>
          <a:prstGeom prst="rect">
            <a:avLst/>
          </a:prstGeom>
          <a:solidFill>
            <a:srgbClr val="3B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5BA5"/>
                </a:solidFill>
                <a:latin typeface="Calibri Bold"/>
              </a:rPr>
              <a:t>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834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feature/E{N}-{description} — your daily branch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401568"/>
            <a:ext cx="420624" cy="42062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401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Bold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4198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 Bold"/>
              </a:rPr>
              <a:t>Start of 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341985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git checkout develop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41985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urier New"/>
              </a:rPr>
              <a:t>git pull origin develop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023360"/>
            <a:ext cx="420624" cy="42062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02336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Bold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0416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 Bold"/>
              </a:rPr>
              <a:t>Create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4912" y="40416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git checkout -b feature/E2-vat-field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645152"/>
            <a:ext cx="420624" cy="42062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6451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6634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 Bold"/>
              </a:rPr>
              <a:t>Commit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2" y="4663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git add &lt;files&gt;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6634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urier New"/>
              </a:rPr>
              <a:t>git commit -m 'feat(E2): ...'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266944"/>
            <a:ext cx="420624" cy="42062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266944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Bol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28523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 Bold"/>
              </a:rPr>
              <a:t>Open 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24912" y="5285231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gh pr create --base develop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5285231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urier New"/>
              </a:rPr>
              <a:t>--title 'feat(E2): ...'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888736"/>
            <a:ext cx="420624" cy="42062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588873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Bold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59070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 Bold"/>
              </a:rPr>
              <a:t>Get reviewed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24912" y="590702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Other dev reviews in 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590702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urier New"/>
              </a:rPr>
              <a:t>Squash merge → delete branch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Bold"/>
              </a:rPr>
              <a:t>Quick Reference — Talking to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Exact phrases to invoke skills and agents in Claude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7453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Qasyp App — Developer 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486400" cy="4389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264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Bold"/>
              </a:rPr>
              <a:t>Skills — say this to Claude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10512"/>
            <a:ext cx="5486400" cy="53035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865376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ourier New"/>
              </a:rPr>
              <a:t>"Use the api-spec skill to generate a POST /survey/responses endpoint"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59152"/>
            <a:ext cx="54864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414016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ourier New"/>
              </a:rPr>
              <a:t>"Use the rag-pipeline skill to build the match query for a buyer profile"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07791"/>
            <a:ext cx="5486400" cy="53035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962656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ourier New"/>
              </a:rPr>
              <a:t>"Use the test-writer skill to write tests for the survey service"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456432"/>
            <a:ext cx="54864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511296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ourier New"/>
              </a:rPr>
              <a:t>"Use the code-review skill on my changes before I open a PR"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05072"/>
            <a:ext cx="5486400" cy="53035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059935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ourier New"/>
              </a:rPr>
              <a:t>"Use the github-pr skill to help me open a PR for this branch"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553712"/>
            <a:ext cx="54864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608576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ourier New"/>
              </a:rPr>
              <a:t>"Use the conventional-commit skill to write a commit message for this diff"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102352"/>
            <a:ext cx="5486400" cy="53035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5157216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ourier New"/>
              </a:rPr>
              <a:t>"Use the alembic-migration skill to create a migration for this new column"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650992"/>
            <a:ext cx="54864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705856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ourier New"/>
              </a:rPr>
              <a:t>"Use the docker-compose skill to add a new Celery queue to the stack"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371600"/>
            <a:ext cx="576072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4264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Bold"/>
              </a:rPr>
              <a:t>Agents — say this to Claude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1810512"/>
            <a:ext cx="5760720" cy="53035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186537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ourier New"/>
              </a:rPr>
              <a:t>"Run the sprint-prep agent for sprint 1"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359152"/>
            <a:ext cx="57607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24140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ourier New"/>
              </a:rPr>
              <a:t>"Draft outreach from ТОО Alpha to ТОО Beta in Russian"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2944368"/>
            <a:ext cx="5760720" cy="43891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9992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Bold"/>
              </a:rPr>
              <a:t>Ask about Claude Code itself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3383280"/>
            <a:ext cx="5760720" cy="53035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34381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ourier New"/>
              </a:rPr>
              <a:t>"Use the anthropic-docs skill to explain how hooks work"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Bold"/>
              </a:rPr>
              <a:t>Quick Reference — Terminal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The git, docker, and test commands you'll run every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7453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Qasyp App — Developer 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57784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435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Bold"/>
              </a:rPr>
              <a:t>Git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5577840" cy="42062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82880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git checkout develop &amp;&amp; git pull origin develop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03704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4942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git checkout -b feature/E{N}-{short-description}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24328"/>
            <a:ext cx="5577840" cy="42062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6700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git add &lt;files&gt;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44952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09067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git commit -m 'feat(E2): add VAT certificate field'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65576"/>
            <a:ext cx="5577840" cy="42062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51129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gh pr create --base develop --title 'feat(E2): ...'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86200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9319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gh pr merge {PR-number} --squash --delete-branch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371600"/>
            <a:ext cx="557784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1" y="1435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Bold"/>
              </a:rPr>
              <a:t>Docker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783080"/>
            <a:ext cx="5577840" cy="42062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1" y="182880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docker compose up -d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203704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1" y="224942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docker compose logs -f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624328"/>
            <a:ext cx="5577840" cy="42062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1" y="26700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docker compose exec api bash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044952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1" y="309067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docker compose restart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465576"/>
            <a:ext cx="5577840" cy="42062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1" y="351129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docker compose down -v   # full reset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160520"/>
            <a:ext cx="5577840" cy="411480"/>
          </a:xfrm>
          <a:prstGeom prst="rect">
            <a:avLst/>
          </a:prstGeom>
          <a:solidFill>
            <a:srgbClr val="3B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" y="42245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Bold"/>
              </a:rPr>
              <a:t>Database (Alembic)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572000"/>
            <a:ext cx="5577840" cy="42062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46177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docker compose exec api alembic upgrade head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92624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" y="503834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docker compose exec api alembic revision --autogenerate -m 'description'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413248"/>
            <a:ext cx="5577840" cy="42062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" y="545896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docker compose exec api alembic downgrade -1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833872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" y="587959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docker compose exec api alembic history --verbose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4160520"/>
            <a:ext cx="5577840" cy="4114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1" y="42245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Bold"/>
              </a:rPr>
              <a:t>Tests &amp; Lint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4572000"/>
            <a:ext cx="5577840" cy="42062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1" y="46177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docker compose exec api pytest --cov=app --cov-report=term-missing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992624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9631" y="503834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docker compose exec api ruff check app/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5413248"/>
            <a:ext cx="5577840" cy="42062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9631" y="545896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docker compose exec api mypy app/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5833872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1" y="587959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ourier New"/>
              </a:rPr>
              <a:t>pytest tests/unit/ -v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Bold"/>
              </a:rPr>
              <a:t>Three Rules to Remember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156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658368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 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3736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ADCFC"/>
                </a:solidFill>
                <a:latin typeface="Calibri Bold"/>
              </a:rPr>
              <a:t>Read CLAUDE.md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286000"/>
            <a:ext cx="9875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BA4D8"/>
                </a:solidFill>
                <a:latin typeface="Calibri"/>
              </a:rPr>
              <a:t>Every session, every task — it is the single source of truth for conventions, epics, and quality standards.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10128"/>
            <a:ext cx="658368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1012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 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310128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ADCFC"/>
                </a:solidFill>
                <a:latin typeface="Calibri Bold"/>
              </a:rPr>
              <a:t>Use a skill or agent for everything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858768"/>
            <a:ext cx="9875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BA4D8"/>
                </a:solidFill>
                <a:latin typeface="Calibri"/>
              </a:rPr>
              <a:t>If a skill exists for what you are doing, use it. It keeps both developers consistent without extra explanation.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82896"/>
            <a:ext cx="658368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82896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 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882896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ADCFC"/>
                </a:solidFill>
                <a:latin typeface="Calibri Bold"/>
              </a:rPr>
              <a:t>Never push directly to develop or 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431536"/>
            <a:ext cx="9875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BA4D8"/>
                </a:solidFill>
                <a:latin typeface="Calibri"/>
              </a:rPr>
              <a:t>Open a PR and get it reviewed by your colleague. Small, focused PRs are safer and easier to merge.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